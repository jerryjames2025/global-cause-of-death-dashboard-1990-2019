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0" r:id="rId12"/>
    <p:sldId id="287" r:id="rId13"/>
    <p:sldId id="266" r:id="rId14"/>
    <p:sldId id="267" r:id="rId15"/>
    <p:sldId id="283" r:id="rId16"/>
    <p:sldId id="268" r:id="rId17"/>
    <p:sldId id="269" r:id="rId18"/>
    <p:sldId id="285" r:id="rId19"/>
    <p:sldId id="286" r:id="rId20"/>
    <p:sldId id="270" r:id="rId21"/>
    <p:sldId id="271" r:id="rId22"/>
    <p:sldId id="281" r:id="rId23"/>
    <p:sldId id="282" r:id="rId24"/>
    <p:sldId id="284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0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D24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1D24"/>
                </a:solidFill>
                <a:latin typeface="Arial"/>
              </a:rPr>
              <a:t>Top Causes of Death — Global Totals (Millions)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Deaths (Millions)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3B-401E-B422-6B01C1AC7C52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83B-401E-B422-6B01C1AC7C52}"/>
              </c:ext>
            </c:extLst>
          </c:dPt>
          <c:dPt>
            <c:idx val="2"/>
            <c:invertIfNegative val="0"/>
            <c:bubble3D val="0"/>
            <c:spPr>
              <a:solidFill>
                <a:srgbClr val="922B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3B-401E-B422-6B01C1AC7C52}"/>
              </c:ext>
            </c:extLst>
          </c:dPt>
          <c:dPt>
            <c:idx val="3"/>
            <c:invertIfNegative val="0"/>
            <c:bubble3D val="0"/>
            <c:spPr>
              <a:solidFill>
                <a:srgbClr val="CB43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83B-401E-B422-6B01C1AC7C52}"/>
              </c:ext>
            </c:extLst>
          </c:dPt>
          <c:dPt>
            <c:idx val="4"/>
            <c:invertIfNegative val="0"/>
            <c:bubble3D val="0"/>
            <c:spPr>
              <a:solidFill>
                <a:srgbClr val="D988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83B-401E-B422-6B01C1AC7C52}"/>
              </c:ext>
            </c:extLst>
          </c:dPt>
          <c:dPt>
            <c:idx val="5"/>
            <c:invertIfNegative val="0"/>
            <c:bubble3D val="0"/>
            <c:spPr>
              <a:solidFill>
                <a:srgbClr val="F194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83B-401E-B422-6B01C1AC7C52}"/>
              </c:ext>
            </c:extLst>
          </c:dPt>
          <c:dPt>
            <c:idx val="6"/>
            <c:invertIfNegative val="0"/>
            <c:bubble3D val="0"/>
            <c:spPr>
              <a:solidFill>
                <a:srgbClr val="FADB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83B-401E-B422-6B01C1AC7C52}"/>
              </c:ext>
            </c:extLst>
          </c:dPt>
          <c:dPt>
            <c:idx val="7"/>
            <c:invertIfNegative val="0"/>
            <c:bubble3D val="0"/>
            <c:spPr>
              <a:solidFill>
                <a:srgbClr val="FDECE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83B-401E-B422-6B01C1AC7C5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D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Cardiovascular</c:v>
                </c:pt>
                <c:pt idx="1">
                  <c:v>Cancer</c:v>
                </c:pt>
                <c:pt idx="2">
                  <c:v>Respiratory</c:v>
                </c:pt>
                <c:pt idx="3">
                  <c:v>Neonatal</c:v>
                </c:pt>
                <c:pt idx="4">
                  <c:v>Diabetes</c:v>
                </c:pt>
                <c:pt idx="5">
                  <c:v>Alzheimer</c:v>
                </c:pt>
                <c:pt idx="6">
                  <c:v>Diarrheal</c:v>
                </c:pt>
                <c:pt idx="7">
                  <c:v>HIV/AIDS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17.899999999999999</c:v>
                </c:pt>
                <c:pt idx="1">
                  <c:v>9.6</c:v>
                </c:pt>
                <c:pt idx="2">
                  <c:v>5.5</c:v>
                </c:pt>
                <c:pt idx="3">
                  <c:v>3.5</c:v>
                </c:pt>
                <c:pt idx="4">
                  <c:v>2.8</c:v>
                </c:pt>
                <c:pt idx="5">
                  <c:v>2.4</c:v>
                </c:pt>
                <c:pt idx="6">
                  <c:v>1.9</c:v>
                </c:pt>
                <c:pt idx="7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83B-401E-B422-6B01C1AC7C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D24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1D24"/>
                </a:solidFill>
                <a:latin typeface="Arial"/>
              </a:rPr>
              <a:t>Top Countries by Total Death Count (Millions)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Deaths (Millions)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F1-404A-967E-32A05CBA41C8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F1-404A-967E-32A05CBA41C8}"/>
              </c:ext>
            </c:extLst>
          </c:dPt>
          <c:dPt>
            <c:idx val="2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F1-404A-967E-32A05CBA41C8}"/>
              </c:ext>
            </c:extLst>
          </c:dPt>
          <c:dPt>
            <c:idx val="3"/>
            <c:invertIfNegative val="0"/>
            <c:bubble3D val="0"/>
            <c:spPr>
              <a:solidFill>
                <a:srgbClr val="922B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7F1-404A-967E-32A05CBA41C8}"/>
              </c:ext>
            </c:extLst>
          </c:dPt>
          <c:dPt>
            <c:idx val="4"/>
            <c:invertIfNegative val="0"/>
            <c:bubble3D val="0"/>
            <c:spPr>
              <a:solidFill>
                <a:srgbClr val="CB43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7F1-404A-967E-32A05CBA41C8}"/>
              </c:ext>
            </c:extLst>
          </c:dPt>
          <c:dPt>
            <c:idx val="5"/>
            <c:invertIfNegative val="0"/>
            <c:bubble3D val="0"/>
            <c:spPr>
              <a:solidFill>
                <a:srgbClr val="D988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7F1-404A-967E-32A05CBA41C8}"/>
              </c:ext>
            </c:extLst>
          </c:dPt>
          <c:dPt>
            <c:idx val="6"/>
            <c:invertIfNegative val="0"/>
            <c:bubble3D val="0"/>
            <c:spPr>
              <a:solidFill>
                <a:srgbClr val="F194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7F1-404A-967E-32A05CBA41C8}"/>
              </c:ext>
            </c:extLst>
          </c:dPt>
          <c:dPt>
            <c:idx val="7"/>
            <c:invertIfNegative val="0"/>
            <c:bubble3D val="0"/>
            <c:spPr>
              <a:solidFill>
                <a:srgbClr val="FADB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7F1-404A-967E-32A05CBA41C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D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China</c:v>
                </c:pt>
                <c:pt idx="1">
                  <c:v>India</c:v>
                </c:pt>
                <c:pt idx="2">
                  <c:v>USA</c:v>
                </c:pt>
                <c:pt idx="3">
                  <c:v>Russia</c:v>
                </c:pt>
                <c:pt idx="4">
                  <c:v>Nigeria</c:v>
                </c:pt>
                <c:pt idx="5">
                  <c:v>Indonesia</c:v>
                </c:pt>
                <c:pt idx="6">
                  <c:v>Brazil</c:v>
                </c:pt>
                <c:pt idx="7">
                  <c:v>Pakistan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10.5</c:v>
                </c:pt>
                <c:pt idx="1">
                  <c:v>9.8000000000000007</c:v>
                </c:pt>
                <c:pt idx="2">
                  <c:v>3.2</c:v>
                </c:pt>
                <c:pt idx="3">
                  <c:v>2.9</c:v>
                </c:pt>
                <c:pt idx="4">
                  <c:v>2.4</c:v>
                </c:pt>
                <c:pt idx="5">
                  <c:v>2.1</c:v>
                </c:pt>
                <c:pt idx="6">
                  <c:v>1.8</c:v>
                </c:pt>
                <c:pt idx="7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7F1-404A-967E-32A05CBA41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D24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1D24"/>
                </a:solidFill>
                <a:latin typeface="Arial"/>
              </a:rPr>
              <a:t>Death Trend by Cause — 1990 to 2019 (Millions)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Cardiovascular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1990</c:v>
                </c:pt>
                <c:pt idx="1">
                  <c:v>1995</c:v>
                </c:pt>
                <c:pt idx="2">
                  <c:v>2000</c:v>
                </c:pt>
                <c:pt idx="3">
                  <c:v>2005</c:v>
                </c:pt>
                <c:pt idx="4">
                  <c:v>2010</c:v>
                </c:pt>
                <c:pt idx="5">
                  <c:v>2015</c:v>
                </c:pt>
                <c:pt idx="6">
                  <c:v>2019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12.1</c:v>
                </c:pt>
                <c:pt idx="1">
                  <c:v>13.2</c:v>
                </c:pt>
                <c:pt idx="2">
                  <c:v>14</c:v>
                </c:pt>
                <c:pt idx="3">
                  <c:v>15.1</c:v>
                </c:pt>
                <c:pt idx="4">
                  <c:v>16.3</c:v>
                </c:pt>
                <c:pt idx="5">
                  <c:v>17</c:v>
                </c:pt>
                <c:pt idx="6">
                  <c:v>17.899999999999999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83F-4DDA-AD72-C14BEA450A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Cancer</c:v>
                </c:pt>
              </c:strCache>
            </c:strRef>
          </c:tx>
          <c:spPr>
            <a:ln w="3175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1990</c:v>
                </c:pt>
                <c:pt idx="1">
                  <c:v>1995</c:v>
                </c:pt>
                <c:pt idx="2">
                  <c:v>2000</c:v>
                </c:pt>
                <c:pt idx="3">
                  <c:v>2005</c:v>
                </c:pt>
                <c:pt idx="4">
                  <c:v>2010</c:v>
                </c:pt>
                <c:pt idx="5">
                  <c:v>2015</c:v>
                </c:pt>
                <c:pt idx="6">
                  <c:v>2019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</c:v>
                </c:pt>
                <c:pt idx="1">
                  <c:v>6.8</c:v>
                </c:pt>
                <c:pt idx="2">
                  <c:v>7.5</c:v>
                </c:pt>
                <c:pt idx="3">
                  <c:v>8</c:v>
                </c:pt>
                <c:pt idx="4">
                  <c:v>8.8000000000000007</c:v>
                </c:pt>
                <c:pt idx="5">
                  <c:v>9.1999999999999993</c:v>
                </c:pt>
                <c:pt idx="6">
                  <c:v>9.6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83F-4DDA-AD72-C14BEA450A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HIV/AIDS</c:v>
                </c:pt>
              </c:strCache>
            </c:strRef>
          </c:tx>
          <c:spPr>
            <a:ln w="3175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1990</c:v>
                </c:pt>
                <c:pt idx="1">
                  <c:v>1995</c:v>
                </c:pt>
                <c:pt idx="2">
                  <c:v>2000</c:v>
                </c:pt>
                <c:pt idx="3">
                  <c:v>2005</c:v>
                </c:pt>
                <c:pt idx="4">
                  <c:v>2010</c:v>
                </c:pt>
                <c:pt idx="5">
                  <c:v>2015</c:v>
                </c:pt>
                <c:pt idx="6">
                  <c:v>2019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0.3</c:v>
                </c:pt>
                <c:pt idx="1">
                  <c:v>0.8</c:v>
                </c:pt>
                <c:pt idx="2">
                  <c:v>1.5</c:v>
                </c:pt>
                <c:pt idx="3">
                  <c:v>2.1</c:v>
                </c:pt>
                <c:pt idx="4">
                  <c:v>1.6</c:v>
                </c:pt>
                <c:pt idx="5">
                  <c:v>1.2</c:v>
                </c:pt>
                <c:pt idx="6">
                  <c:v>0.9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083F-4DDA-AD72-C14BEA450A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D24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1D24"/>
                </a:solidFill>
                <a:latin typeface="Arial"/>
              </a:rPr>
              <a:t>Cause Ranking: 1990 vs 2019 (Lower = Worse)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1990 Rank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Cardiovascular</c:v>
                </c:pt>
                <c:pt idx="1">
                  <c:v>Cancer</c:v>
                </c:pt>
                <c:pt idx="2">
                  <c:v>Respiratory</c:v>
                </c:pt>
                <c:pt idx="3">
                  <c:v>Diarrheal</c:v>
                </c:pt>
                <c:pt idx="4">
                  <c:v>TB</c:v>
                </c:pt>
                <c:pt idx="5">
                  <c:v>Malaria</c:v>
                </c:pt>
                <c:pt idx="6">
                  <c:v>Diabetes</c:v>
                </c:pt>
                <c:pt idx="7">
                  <c:v>Alzheimer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8</c:v>
                </c:pt>
                <c:pt idx="7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48-4E86-B791-84ED8B3CE1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2019 Rank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Cardiovascular</c:v>
                </c:pt>
                <c:pt idx="1">
                  <c:v>Cancer</c:v>
                </c:pt>
                <c:pt idx="2">
                  <c:v>Respiratory</c:v>
                </c:pt>
                <c:pt idx="3">
                  <c:v>Diarrheal</c:v>
                </c:pt>
                <c:pt idx="4">
                  <c:v>TB</c:v>
                </c:pt>
                <c:pt idx="5">
                  <c:v>Malaria</c:v>
                </c:pt>
                <c:pt idx="6">
                  <c:v>Diabetes</c:v>
                </c:pt>
                <c:pt idx="7">
                  <c:v>Alzheimer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4</c:v>
                </c:pt>
                <c:pt idx="7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48-4E86-B791-84ED8B3CE1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D24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1D24"/>
                </a:solidFill>
                <a:latin typeface="Arial"/>
              </a:rPr>
              <a:t>Death Growth Rate by Cause — 1990 to 2019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Rate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B3-4F7C-A0E1-C219357D3AF0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B3-4F7C-A0E1-C219357D3AF0}"/>
              </c:ext>
            </c:extLst>
          </c:dPt>
          <c:dPt>
            <c:idx val="2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B3-4F7C-A0E1-C219357D3AF0}"/>
              </c:ext>
            </c:extLst>
          </c:dPt>
          <c:dPt>
            <c:idx val="3"/>
            <c:invertIfNegative val="0"/>
            <c:bubble3D val="0"/>
            <c:spPr>
              <a:solidFill>
                <a:srgbClr val="922B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8B3-4F7C-A0E1-C219357D3AF0}"/>
              </c:ext>
            </c:extLst>
          </c:dPt>
          <c:dPt>
            <c:idx val="4"/>
            <c:invertIfNegative val="0"/>
            <c:bubble3D val="0"/>
            <c:spPr>
              <a:solidFill>
                <a:srgbClr val="CB43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8B3-4F7C-A0E1-C219357D3AF0}"/>
              </c:ext>
            </c:extLst>
          </c:dPt>
          <c:dPt>
            <c:idx val="5"/>
            <c:invertIfNegative val="0"/>
            <c:bubble3D val="0"/>
            <c:spPr>
              <a:solidFill>
                <a:srgbClr val="D988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8B3-4F7C-A0E1-C219357D3AF0}"/>
              </c:ext>
            </c:extLst>
          </c:dPt>
          <c:dPt>
            <c:idx val="6"/>
            <c:invertIfNegative val="0"/>
            <c:bubble3D val="0"/>
            <c:spPr>
              <a:solidFill>
                <a:srgbClr val="F194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8B3-4F7C-A0E1-C219357D3AF0}"/>
              </c:ext>
            </c:extLst>
          </c:dPt>
          <c:dPt>
            <c:idx val="7"/>
            <c:invertIfNegative val="0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8B3-4F7C-A0E1-C219357D3AF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D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Alzheimer's</c:v>
                </c:pt>
                <c:pt idx="1">
                  <c:v>Diabetes</c:v>
                </c:pt>
                <c:pt idx="2">
                  <c:v>Kidney Disease</c:v>
                </c:pt>
                <c:pt idx="3">
                  <c:v>Parkinson's</c:v>
                </c:pt>
                <c:pt idx="4">
                  <c:v>Cancer</c:v>
                </c:pt>
                <c:pt idx="5">
                  <c:v>Cardiovascular</c:v>
                </c:pt>
                <c:pt idx="6">
                  <c:v>Respiratory</c:v>
                </c:pt>
                <c:pt idx="7">
                  <c:v>HIV/AIDS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185</c:v>
                </c:pt>
                <c:pt idx="1">
                  <c:v>72</c:v>
                </c:pt>
                <c:pt idx="2">
                  <c:v>62</c:v>
                </c:pt>
                <c:pt idx="3">
                  <c:v>55</c:v>
                </c:pt>
                <c:pt idx="4">
                  <c:v>35</c:v>
                </c:pt>
                <c:pt idx="5">
                  <c:v>28</c:v>
                </c:pt>
                <c:pt idx="6">
                  <c:v>18</c:v>
                </c:pt>
                <c:pt idx="7">
                  <c:v>-38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8B3-4F7C-A0E1-C219357D3A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0.99735</cdr:x>
      <cdr:y>0.19917</cdr:y>
    </cdr:to>
    <cdr:pic>
      <cdr:nvPicPr>
        <cdr:cNvPr id="5" name="Picture 4">
          <a:extLst xmlns:a="http://schemas.openxmlformats.org/drawingml/2006/main">
            <a:ext uri="{FF2B5EF4-FFF2-40B4-BE49-F238E27FC236}">
              <a16:creationId xmlns:a16="http://schemas.microsoft.com/office/drawing/2014/main" id="{E1A7A7A3-D8B6-AA96-6DBC-B94A15F5C57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5563082" cy="751969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450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3348021"/>
            <a:ext cx="6858000" cy="1231118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2770782"/>
            <a:ext cx="6858000" cy="565519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29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69695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3348021"/>
            <a:ext cx="6858000" cy="1231118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2770256"/>
            <a:ext cx="6858000" cy="565519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88174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369219"/>
            <a:ext cx="3768912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369219"/>
            <a:ext cx="377547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68643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260872"/>
            <a:ext cx="3768912" cy="617934"/>
          </a:xfrm>
        </p:spPr>
        <p:txBody>
          <a:bodyPr anchor="b"/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1878806"/>
            <a:ext cx="3768912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260872"/>
            <a:ext cx="3776661" cy="61793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1878806"/>
            <a:ext cx="377666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6136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7256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08753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1543050"/>
            <a:ext cx="2739019" cy="2858691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399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1543050"/>
            <a:ext cx="2739019" cy="2858691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2090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275370"/>
            <a:ext cx="7886700" cy="61451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740569"/>
            <a:ext cx="7886700" cy="253480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889887"/>
            <a:ext cx="7885509" cy="511854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2423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265075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367049"/>
            <a:ext cx="7885509" cy="1126370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7148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273844"/>
            <a:ext cx="6977064" cy="2244678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3376297"/>
            <a:ext cx="7884318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33283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727973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745226"/>
            <a:ext cx="7886700" cy="188387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637936"/>
            <a:ext cx="7885509" cy="855483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90716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414462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1928812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414462"/>
            <a:ext cx="2202181" cy="43219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1928812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414462"/>
            <a:ext cx="2199085" cy="43219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1928812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45476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3223127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1692266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3655324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3223127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1692266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3655323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3223127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1692266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3655322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45539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7729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3332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2043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369219"/>
            <a:ext cx="767535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9675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99220" y="78204"/>
            <a:ext cx="3344779" cy="5065295"/>
          </a:xfrm>
          <a:prstGeom prst="rect">
            <a:avLst/>
          </a:prstGeom>
          <a:solidFill>
            <a:srgbClr val="C0392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6000" dirty="0">
                <a:solidFill>
                  <a:schemeClr val="accent2">
                    <a:lumMod val="75000"/>
                  </a:schemeClr>
                </a:solidFill>
              </a:rPr>
              <a:t>Global Causes of Death </a:t>
            </a:r>
            <a:endParaRPr lang="en-US" sz="5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6000" dirty="0">
                <a:solidFill>
                  <a:schemeClr val="accent2">
                    <a:lumMod val="75000"/>
                  </a:schemeClr>
                </a:solidFill>
              </a:rPr>
              <a:t>Analysis Dashboard</a:t>
            </a:r>
            <a:endParaRPr lang="en-US" sz="5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analytical deep-dive into the leading causes of death worldwide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Power BI · Power Query · DAX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30752"/>
            <a:ext cx="228600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8587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Presented by  Jerry James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0" y="43891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4389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Deaths by Cause</a:t>
            </a:r>
            <a:endParaRPr 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932997-1ADE-3249-ECE3-59C3B33E661A}"/>
              </a:ext>
            </a:extLst>
          </p:cNvPr>
          <p:cNvSpPr txBox="1"/>
          <p:nvPr/>
        </p:nvSpPr>
        <p:spPr>
          <a:xfrm>
            <a:off x="7315200" y="3952995"/>
            <a:ext cx="12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1990-2019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2743200"/>
            <a:ext cx="128016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4297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Global Causes of Death</a:t>
            </a:r>
          </a:p>
          <a:p>
            <a:r>
              <a:rPr lang="en-IN"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Analysis Dashboard</a:t>
            </a:r>
            <a:r>
              <a:rPr lang="en-US" sz="9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108960" y="274320"/>
            <a:ext cx="5760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08960" y="274320"/>
            <a:ext cx="54864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86200" y="320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86200" y="5669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scope &amp; dataset summary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08960" y="950976"/>
            <a:ext cx="5760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950976"/>
            <a:ext cx="54864" cy="56692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9966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9966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Fields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86200" y="12435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columns, and coverage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08960" y="1627632"/>
            <a:ext cx="5760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08960" y="1627632"/>
            <a:ext cx="54864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6733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86200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Preparation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86200" y="1920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Power Query, DAX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08960" y="2304288"/>
            <a:ext cx="5760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08960" y="2304288"/>
            <a:ext cx="54864" cy="56692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2350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86200" y="2350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86200" y="25968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questions explored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08960" y="2980944"/>
            <a:ext cx="5760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08960" y="2980944"/>
            <a:ext cx="54864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3026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86200" y="3026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86200" y="32735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visuals &amp; interactivity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08960" y="3657600"/>
            <a:ext cx="5760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08960" y="3657600"/>
            <a:ext cx="54864" cy="56692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86200" y="3703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86200" y="39502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Patterns, trends &amp; insights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08960" y="4334256"/>
            <a:ext cx="5760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08960" y="4334256"/>
            <a:ext cx="54864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3291840" y="4379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886200" y="4379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886200" y="46268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Dashboard Answers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Power BI, this project uncovers global mortality trends, identifies leading causes of death, maps high-mortality regions, and tracks disease growth rates over time — turning raw data into life-saving insights.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2084832"/>
            <a:ext cx="4069080" cy="1261872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084832"/>
            <a:ext cx="40690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22677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" y="22494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560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top diseases and conditions causing the most deaths globally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2084832"/>
            <a:ext cx="4069080" cy="1261872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84832"/>
            <a:ext cx="40690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22677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13248" y="22494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Mapping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13248" y="2560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highest mortality countries using filled geographic maps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502152"/>
            <a:ext cx="4069080" cy="1261872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02152"/>
            <a:ext cx="406908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15568" y="36667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3977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death counts per cause have evolved year over year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502152"/>
            <a:ext cx="4069080" cy="1261872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502152"/>
            <a:ext cx="406908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4828032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13248" y="36667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13248" y="3977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the fastest growing diseases using DAX-calculated growth metrics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548640"/>
          </a:xfrm>
          <a:prstGeom prst="rect">
            <a:avLst/>
          </a:prstGeom>
          <a:solidFill>
            <a:srgbClr val="111318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 Dataset:  annual_deaths_by_causes   ·   Source: Our World in Data / Kaggle   ·   Table: annual_deaths_by_causes (2)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83664"/>
            <a:ext cx="82296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83664"/>
            <a:ext cx="54864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938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34640" y="1938528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FADBD8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93852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794760" y="192938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Nation-level records across all global regions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8229600" cy="347472"/>
          </a:xfrm>
          <a:prstGeom prst="rect">
            <a:avLst/>
          </a:prstGeom>
          <a:solidFill>
            <a:srgbClr val="EDF0F5"/>
          </a:solidFill>
          <a:ln w="3810">
            <a:solidFill>
              <a:srgbClr val="D5D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67712"/>
            <a:ext cx="54864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1343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34640" y="2322576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FADBD8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232257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94760" y="231343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time series for trend and YoY analysis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A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9748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/ Disease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34640" y="2706624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FADBD8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270662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94760" y="269748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or condition responsible for mortality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35808"/>
            <a:ext cx="8229600" cy="347472"/>
          </a:xfrm>
          <a:prstGeom prst="rect">
            <a:avLst/>
          </a:prstGeom>
          <a:solidFill>
            <a:srgbClr val="EDF0F5"/>
          </a:solidFill>
          <a:ln w="3810">
            <a:solidFill>
              <a:srgbClr val="D5D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035808"/>
            <a:ext cx="54864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08152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Count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834640" y="309067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FADBD8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309067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94760" y="308152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recorded deaths per country, year &amp; cause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419856"/>
            <a:ext cx="82296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A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419856"/>
            <a:ext cx="54864" cy="3474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46557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 (DAX)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834640" y="3474720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FEF9E7"/>
          </a:solidFill>
          <a:ln/>
        </p:spPr>
      </p:sp>
      <p:sp>
        <p:nvSpPr>
          <p:cNvPr id="34" name="Text 32"/>
          <p:cNvSpPr/>
          <p:nvPr/>
        </p:nvSpPr>
        <p:spPr>
          <a:xfrm>
            <a:off x="2834640" y="34747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794760" y="346557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deaths — custom DAX calculated measure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803904"/>
            <a:ext cx="8229600" cy="347472"/>
          </a:xfrm>
          <a:prstGeom prst="rect">
            <a:avLst/>
          </a:prstGeom>
          <a:solidFill>
            <a:srgbClr val="EDF0F5"/>
          </a:solidFill>
          <a:ln w="3810">
            <a:solidFill>
              <a:srgbClr val="D5DA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803904"/>
            <a:ext cx="54864" cy="3474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84962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Mortality Country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834640" y="3858768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FEF9E7"/>
          </a:solidFill>
          <a:ln/>
        </p:spPr>
      </p:sp>
      <p:sp>
        <p:nvSpPr>
          <p:cNvPr id="40" name="Text 38"/>
          <p:cNvSpPr/>
          <p:nvPr/>
        </p:nvSpPr>
        <p:spPr>
          <a:xfrm>
            <a:off x="2834640" y="385876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794760" y="384962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returning nation with peak deaths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187952"/>
            <a:ext cx="82296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A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187952"/>
            <a:ext cx="54864" cy="3474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23367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834640" y="4242816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FEF9E7"/>
          </a:solidFill>
          <a:ln/>
        </p:spPr>
      </p:sp>
      <p:sp>
        <p:nvSpPr>
          <p:cNvPr id="46" name="Text 44"/>
          <p:cNvSpPr/>
          <p:nvPr/>
        </p:nvSpPr>
        <p:spPr>
          <a:xfrm>
            <a:off x="2834640" y="424281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794760" y="423367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with the highest cumulative death count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EDF0F5"/>
          </a:solidFill>
          <a:ln w="3810">
            <a:solidFill>
              <a:srgbClr val="D5DA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4572000"/>
            <a:ext cx="54864" cy="3474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461772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Growth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834640" y="4626864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FEF9E7"/>
          </a:solidFill>
          <a:ln/>
        </p:spPr>
      </p:sp>
      <p:sp>
        <p:nvSpPr>
          <p:cNvPr id="52" name="Text 50"/>
          <p:cNvSpPr/>
          <p:nvPr/>
        </p:nvSpPr>
        <p:spPr>
          <a:xfrm>
            <a:off x="2834640" y="462686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794760" y="461772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percentage change in deaths per cause (DAX)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Powered This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0896" y="1408176"/>
            <a:ext cx="2743200" cy="1600200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53312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17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69848" y="1554480"/>
            <a:ext cx="914400" cy="201168"/>
          </a:xfrm>
          <a:prstGeom prst="roundRect">
            <a:avLst>
              <a:gd name="adj" fmla="val 13636"/>
            </a:avLst>
          </a:prstGeom>
          <a:solidFill>
            <a:srgbClr val="922B21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15544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41832" y="1805459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112264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dashboard creation with interactive visuals, slicers, cross-filtering, and multi-page report design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1353312"/>
            <a:ext cx="27432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517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995928" y="1554480"/>
            <a:ext cx="914400" cy="201168"/>
          </a:xfrm>
          <a:prstGeom prst="roundRect">
            <a:avLst>
              <a:gd name="adj" fmla="val 13636"/>
            </a:avLst>
          </a:prstGeom>
          <a:solidFill>
            <a:srgbClr val="7D6608"/>
          </a:solidFill>
          <a:ln/>
        </p:spPr>
      </p:sp>
      <p:sp>
        <p:nvSpPr>
          <p:cNvPr id="15" name="Text 13"/>
          <p:cNvSpPr/>
          <p:nvPr/>
        </p:nvSpPr>
        <p:spPr>
          <a:xfrm>
            <a:off x="3995928" y="15544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Layer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49624" y="1817731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Editor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10011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Imported, cleaned and reshaped raw CSV data — data types, and unpivoted year columns into row format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60059" y="3315061"/>
            <a:ext cx="2743200" cy="1600200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64992" y="3264408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3680460" y="336739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183380" y="3499626"/>
            <a:ext cx="914400" cy="201168"/>
          </a:xfrm>
          <a:prstGeom prst="roundRect">
            <a:avLst>
              <a:gd name="adj" fmla="val 13636"/>
            </a:avLst>
          </a:prstGeom>
          <a:solidFill>
            <a:srgbClr val="922B21"/>
          </a:solidFill>
          <a:ln/>
        </p:spPr>
      </p:sp>
      <p:sp>
        <p:nvSpPr>
          <p:cNvPr id="22" name="Text 20"/>
          <p:cNvSpPr/>
          <p:nvPr/>
        </p:nvSpPr>
        <p:spPr>
          <a:xfrm>
            <a:off x="4160520" y="349962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183380" y="3725699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4006636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custom KPIs: Total Death Count, Highest Mortality Country, Leading Cause of Death, and Death Growth Rate 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07287" y="3307842"/>
            <a:ext cx="2743200" cy="1600200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270424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616859" y="3388153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🗃️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1120982" y="3504376"/>
            <a:ext cx="914400" cy="201168"/>
          </a:xfrm>
          <a:prstGeom prst="roundRect">
            <a:avLst>
              <a:gd name="adj" fmla="val 13636"/>
            </a:avLst>
          </a:prstGeom>
          <a:solidFill>
            <a:srgbClr val="922B21"/>
          </a:solidFill>
          <a:ln/>
        </p:spPr>
      </p:sp>
      <p:sp>
        <p:nvSpPr>
          <p:cNvPr id="36" name="Text 34"/>
          <p:cNvSpPr/>
          <p:nvPr/>
        </p:nvSpPr>
        <p:spPr>
          <a:xfrm>
            <a:off x="1108349" y="350437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53846" y="3797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7196" y="3988469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Deaths by Cause dataset — global mortality records by country, year, and disease category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90488" y="1392837"/>
            <a:ext cx="2743200" cy="1600200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1353312"/>
            <a:ext cx="27432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1" name="Text 39"/>
          <p:cNvSpPr/>
          <p:nvPr/>
        </p:nvSpPr>
        <p:spPr>
          <a:xfrm>
            <a:off x="6606540" y="151730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104888" y="1550508"/>
            <a:ext cx="914400" cy="201168"/>
          </a:xfrm>
          <a:prstGeom prst="roundRect">
            <a:avLst>
              <a:gd name="adj" fmla="val 13636"/>
            </a:avLst>
          </a:prstGeom>
          <a:solidFill>
            <a:srgbClr val="7D6608"/>
          </a:solidFill>
          <a:ln/>
        </p:spPr>
      </p:sp>
      <p:sp>
        <p:nvSpPr>
          <p:cNvPr id="43" name="Text 41"/>
          <p:cNvSpPr/>
          <p:nvPr/>
        </p:nvSpPr>
        <p:spPr>
          <a:xfrm>
            <a:off x="7109460" y="154473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Analysis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040880" y="1894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Map Visual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23660" y="21230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choropleth map displaying mortality intensity by country region with color-encoded death counts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49047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490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33856" y="1325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33856" y="16276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Kaggle CSV via Power Query — loaded annual_deaths_by_causes into Power BI data model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49047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490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77256" y="1325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Typing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77256" y="16276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blank rows, corrected column data types, standardized country names and disease/cause labels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2724912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33856" y="2560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3856" y="28620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Unpivoted year columns into rows; created a unified Cause field and reshaped the table for analysis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46888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2724912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77256" y="2560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77256" y="28620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Total Death Count, Highest Mortality Country, Leading Cause of Death, and Death Growth Rate % using DAX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" y="395935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3856" y="3794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33856" y="40965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the two fact tables (annual_deaths_by_causes and annual_deaths_by_causes (2)) for cross-visual filtering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70332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73752" y="395935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4873752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77256" y="3794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77256" y="40965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3 report pages — Overview KPIs, Trend Analysis, and Growth Analysis — with slicers, maps, and charts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A1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  1  OF 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total global death count and which single cause leads all others?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KPI Cards + Treemap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DAX  ·  Annual Deaths by Cause Dataset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— 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99792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Deaths &amp; Leading Cause of Death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822858659"/>
              </p:ext>
            </p:extLst>
          </p:nvPr>
        </p:nvGraphicFramePr>
        <p:xfrm>
          <a:off x="283463" y="1070812"/>
          <a:ext cx="5577841" cy="3775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89320" y="1005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89320" y="1463040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463040"/>
            <a:ext cx="54864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6172200" y="15544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diseases account for the single largest cause of global death across all recorded years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89320" y="2395728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2395728"/>
            <a:ext cx="54864" cy="8046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24871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treemap reveals stark disparity — top 3 causes account for over 50% of all deaths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89320" y="3328416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9320" y="3328416"/>
            <a:ext cx="54864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34198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Non-communicable diseases dominate, signaling a global shift from infectious to chronic illness</a:t>
            </a:r>
            <a:endParaRPr lang="en-US" sz="9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B620715-BB3B-7B8B-A178-C1E64716F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19" y="1822783"/>
            <a:ext cx="5577841" cy="30235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A1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  2  OF 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country has the highest mortality rate and how does it compare globally?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 Map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DAX  ·  Annual Deaths by Cause Dataset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— 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93776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Mortality Country — Geographic View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89320" y="1005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89320" y="1463040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463040"/>
            <a:ext cx="54864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6172200" y="15544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and India consistently top the list due to their massive population base and aging demographics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89320" y="2395728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2395728"/>
            <a:ext cx="54864" cy="8046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24871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filled map reveals Sub-Saharan Africa with high mortality density relative to healthcare access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89320" y="3328416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9320" y="3328416"/>
            <a:ext cx="54864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34198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nations show lower total counts despite aging populations due to stronger health infrastructure</a:t>
            </a:r>
            <a:endParaRPr lang="en-US" sz="9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EE4F72C-D8E1-150D-F08C-AC1EDA87E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767" y="914400"/>
            <a:ext cx="5646537" cy="40279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0D35FE-5AB0-C5DD-AABA-B9CAE602E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95" y="140579"/>
            <a:ext cx="8837194" cy="486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057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A72288-9E64-96EA-D191-EA2539388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32" y="210552"/>
            <a:ext cx="8849226" cy="474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69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A1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  3  OF 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has the death count changed year over year across different causes?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Line Chart + Stacked Area Chart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DAX  ·  Annual Deaths by Cause Dataset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— 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93776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Year-over-Year Death Trend by Cause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89320" y="1005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89320" y="1463040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463040"/>
            <a:ext cx="54864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6172200" y="15544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and cancer deaths show a consistent upward trend driven by aging populations globally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89320" y="2395728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2395728"/>
            <a:ext cx="54864" cy="8046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24871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HIV/AIDS deaths peaked around 2005 and have declined — a sign of improved antiretroviral access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89320" y="3328416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9320" y="3328416"/>
            <a:ext cx="54864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34198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stacked area chart reveals overall mortality rising gradually with spikes during pandemic years</a:t>
            </a:r>
            <a:endParaRPr lang="en-US" sz="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EB359B4-60A6-6528-B25F-4FBA021E3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5840"/>
            <a:ext cx="5852160" cy="41918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9EE114-A237-A87B-755B-FF5FE3F87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52" y="117307"/>
            <a:ext cx="8494295" cy="490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67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A1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  4  OF 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have the rankings of causes of death shifted over the years?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Ribbon Chart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DAX  ·  Annual Deaths by Cause Dataset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— 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93776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 of Death — Ranking Shifts Over Time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89320" y="1005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89320" y="1463040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463040"/>
            <a:ext cx="54864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6172200" y="15544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has held the top rank uninterrupted for three decades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89320" y="2395728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2395728"/>
            <a:ext cx="54864" cy="8046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24871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and Alzheimer's have climbed significantly in recent years due to aging populations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89320" y="3328416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9320" y="3328416"/>
            <a:ext cx="54864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34198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Infectious diseases like malaria and tuberculosis have dropped in rank due to global health campaigns</a:t>
            </a:r>
            <a:endParaRPr lang="en-US" sz="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0E7D5AF-F21F-F70D-ADBA-E03A8C8D6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932688"/>
            <a:ext cx="5737860" cy="40096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3E1871-28F8-376D-BCC1-76535DEE4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79" y="246647"/>
            <a:ext cx="8626642" cy="462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89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3F6942-B6E4-8F1C-8936-6DD7DA16E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53" y="174458"/>
            <a:ext cx="8662736" cy="474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962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A1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  5  OF 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966136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disease or cause of death has the fastest growing death count over time?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Clustered Bar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DAX  ·  Annual Deaths by Cause Dataset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— 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93776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Fastest Growing Causes of Death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89320" y="1005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89320" y="1463040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463040"/>
            <a:ext cx="54864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6172200" y="15544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disease shows the steepest growth rate — deaths nearly tripled from 1990 to 2019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89320" y="2395728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2395728"/>
            <a:ext cx="54864" cy="8046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24871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Diabetes-related deaths grew over 70% — directly linked to rising global obesity rates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89320" y="3328416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9320" y="3328416"/>
            <a:ext cx="54864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34198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disease is an emerging fast-grower, often underreported compared to primary conditions</a:t>
            </a:r>
            <a:endParaRPr lang="en-US" sz="9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4BD5F5E-E5E0-3482-8460-9AE3555ED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1" y="1021709"/>
            <a:ext cx="5486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B5571A-BE0B-4B86-F043-BA1BC149B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8" y="90237"/>
            <a:ext cx="9011653" cy="493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44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0103AB-6042-49EF-4BCB-3CAB35F2D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74" y="180474"/>
            <a:ext cx="8789068" cy="474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44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B045E4-6717-C2A5-F0CA-07F28BA3E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63" y="210553"/>
            <a:ext cx="8837196" cy="466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425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Metrics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1554480" cy="1920240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234440"/>
            <a:ext cx="155448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47472" y="1920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1.8B+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7472" y="2450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48256" y="1234440"/>
            <a:ext cx="1554480" cy="1920240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48256" y="1234440"/>
            <a:ext cx="1554480" cy="640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2048256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048256" y="1920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48256" y="2450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1234440"/>
            <a:ext cx="1554480" cy="1920240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1234440"/>
            <a:ext cx="155448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49040" y="1920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Yrs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749040" y="2450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1990–2019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9824" y="1234440"/>
            <a:ext cx="1554480" cy="1920240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49824" y="1234440"/>
            <a:ext cx="1554480" cy="640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5449824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🦠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49824" y="1920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49824" y="2450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of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Tracked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0608" y="1234440"/>
            <a:ext cx="1554480" cy="1920240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50608" y="1234440"/>
            <a:ext cx="155448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7150608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150608" y="1920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150608" y="2450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Pages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3429000"/>
            <a:ext cx="4069080" cy="1417320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3429000"/>
            <a:ext cx="406908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" y="358444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Cardiovascular Disease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76072" y="40233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 of Death globally across all recorded years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82312" y="3429000"/>
            <a:ext cx="4069080" cy="1417320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82312" y="3429000"/>
            <a:ext cx="4069080" cy="640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5" name="Text 33"/>
          <p:cNvSpPr/>
          <p:nvPr/>
        </p:nvSpPr>
        <p:spPr>
          <a:xfrm>
            <a:off x="5010912" y="358444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C4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Alzheimer's Disease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010912" y="40233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 cause — 185% increase from 1990 to 2019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PAGE 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Overview: KPIs, Map &amp; Disease Treemap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3794760"/>
          </a:xfrm>
          <a:prstGeom prst="rect">
            <a:avLst/>
          </a:prstGeom>
          <a:solidFill>
            <a:srgbClr val="111318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2606040" cy="640080"/>
          </a:xfrm>
          <a:prstGeom prst="rect">
            <a:avLst/>
          </a:prstGeom>
          <a:solidFill>
            <a:srgbClr val="1A1D24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64408" y="1188720"/>
            <a:ext cx="2606040" cy="640080"/>
          </a:xfrm>
          <a:prstGeom prst="rect">
            <a:avLst/>
          </a:prstGeom>
          <a:solidFill>
            <a:srgbClr val="1A1D24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64408" y="11887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Mortality Country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25896" y="1188720"/>
            <a:ext cx="2606040" cy="640080"/>
          </a:xfrm>
          <a:prstGeom prst="rect">
            <a:avLst/>
          </a:prstGeom>
          <a:solidFill>
            <a:srgbClr val="1A1D24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25896" y="11887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 of Death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938528"/>
            <a:ext cx="5029200" cy="2651760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38528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Filled Map Visual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Mortality Region by Country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(Color-encoded choropleth)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938528"/>
            <a:ext cx="2926080" cy="2651760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938528"/>
            <a:ext cx="2926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Treemap Visual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&amp; Death Count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Cause Category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24A45C7-B3C2-EF12-DB72-FD94DD3B8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94" y="1051560"/>
            <a:ext cx="8608595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PAGE 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Analysis: Line, Stacked Area &amp; Ribbon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3794760"/>
          </a:xfrm>
          <a:prstGeom prst="rect">
            <a:avLst/>
          </a:prstGeom>
          <a:solidFill>
            <a:srgbClr val="111318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5212080" cy="1600200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5212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Line Chart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Count by Year &amp; Cause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5212080" cy="1691640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926080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Stacked Area Chart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Count by Year &amp; Cause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0" y="1188720"/>
            <a:ext cx="2743200" cy="3429000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188720"/>
            <a:ext cx="27432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🎀  Ribbon Chart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Count by Year &amp; Cause (Rank Shifts)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8D2AC98-6C56-2E8D-832B-F3A29EEEA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79" y="978408"/>
            <a:ext cx="8614610" cy="39966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PAGE 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Analysis: Line, Ribbon &amp; Bar Chart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3794760"/>
          </a:xfrm>
          <a:prstGeom prst="rect">
            <a:avLst/>
          </a:prstGeom>
          <a:solidFill>
            <a:srgbClr val="111318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8229600" cy="566928"/>
          </a:xfrm>
          <a:prstGeom prst="rect">
            <a:avLst/>
          </a:prstGeom>
          <a:solidFill>
            <a:srgbClr val="1A1D24"/>
          </a:solidFill>
          <a:ln w="762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C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Fastest Growing Disease  —  KPI Card (DAX Measure)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883664"/>
            <a:ext cx="4160520" cy="1417320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83664"/>
            <a:ext cx="4160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Line Chart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Count by Year &amp; Cause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410712"/>
            <a:ext cx="4160520" cy="1234440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410712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🎀  Ribbon Chart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&amp; Cause Rankings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883664"/>
            <a:ext cx="3886200" cy="2761488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883664"/>
            <a:ext cx="3886200" cy="276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Clustered Bar Chart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Growth Rate % by Cause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88E2736-1728-76C0-BD9B-BED964A2C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95" y="978407"/>
            <a:ext cx="8656722" cy="399665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Revealed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261872"/>
            <a:ext cx="4114800" cy="1115568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3533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52144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NCDs Dominate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52144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Non-communicable diseases (heart disease, cancer, diabetes) account for over 70% of all recorded deaths — a global public health crisis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" y="2322576"/>
            <a:ext cx="41148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Shape 7"/>
          <p:cNvSpPr/>
          <p:nvPr/>
        </p:nvSpPr>
        <p:spPr>
          <a:xfrm>
            <a:off x="4690872" y="1261872"/>
            <a:ext cx="4114800" cy="1115568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73752" y="13533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95544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Population Effect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95544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aging demographics — Japan, Italy, USA — show rising cardiovascular and Alzheimer-related deaths despite advanced healthcare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90872" y="2322576"/>
            <a:ext cx="41148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" y="2523744"/>
            <a:ext cx="4114800" cy="1115568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" y="261518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52144" y="2615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HIV/AIDS Success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" y="29535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HIV/AIDS-related deaths declined by ~38% from peak 2005 levels — the clearest evidence of a successful global intervention program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584448"/>
            <a:ext cx="41148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Shape 17"/>
          <p:cNvSpPr/>
          <p:nvPr/>
        </p:nvSpPr>
        <p:spPr>
          <a:xfrm>
            <a:off x="4690872" y="2523744"/>
            <a:ext cx="4114800" cy="1115568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73752" y="261518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95544" y="2615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Surge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95544" y="29535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and dementia deaths grew by 185% over 30 years — the fastest growing cause, driven by longer lifespans worldwide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90872" y="3584448"/>
            <a:ext cx="41148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Shape 22"/>
          <p:cNvSpPr/>
          <p:nvPr/>
        </p:nvSpPr>
        <p:spPr>
          <a:xfrm>
            <a:off x="347472" y="3785616"/>
            <a:ext cx="4114800" cy="1115568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0352" y="387705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52144" y="38770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Risk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52144" y="421538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and other Sub-Saharan African nations show high mortality from infectious diseases — pointing to urgent infrastructure needs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" y="4846320"/>
            <a:ext cx="41148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Shape 27"/>
          <p:cNvSpPr/>
          <p:nvPr/>
        </p:nvSpPr>
        <p:spPr>
          <a:xfrm>
            <a:off x="4690872" y="3785616"/>
            <a:ext cx="4114800" cy="1115568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73752" y="387705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495544" y="38770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&amp; India Lead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95544" y="421538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population size, China and India consistently show the highest absolute death counts but improving mortality rates per capita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90872" y="4846320"/>
            <a:ext cx="4114800" cy="54864"/>
          </a:xfrm>
          <a:prstGeom prst="rect">
            <a:avLst/>
          </a:prstGeom>
          <a:solidFill>
            <a:srgbClr val="F39C12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&amp; Action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753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07008"/>
            <a:ext cx="64008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441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98448" y="1298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Cardiovascular Prevention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16184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should scale up blood pressure screening, dietary programs, and smoking cessation to reduce the #1 global killer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753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64008" cy="8229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98448" y="2240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Dementia Research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98448" y="256032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Alzheimer's growing 185%, accelerated research funding and caregiver infrastructure is critically needed for aging nations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90672"/>
            <a:ext cx="82753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90672"/>
            <a:ext cx="64008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278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💉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98448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HIV Programs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98448" y="35021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success of antiretroviral therapy shows measurable impact — continue global funding for infectious disease prevention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32504"/>
            <a:ext cx="82753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032504"/>
            <a:ext cx="64008" cy="8229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6966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98448" y="41239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African Health Systems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98448" y="444398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 needs targeted investment in infectious disease control, maternal health, and primary care access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Final Thoughts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Cause of Death Analysis Dashboard successfully transforms decades of mortality data into clear, actionable visual intelligence. By leveraging Power BI's full capabilities — from Power Query transformation to DAX-calculated KPIs and multi-page interactive design — this project demonstrates how data analytics can surface critical public health truths.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2148840"/>
            <a:ext cx="4114800" cy="1170432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148840"/>
            <a:ext cx="64008" cy="11704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Tells the Truth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6243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confirm what health experts have warned — chronic diseases are the world's biggest killer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2148840"/>
            <a:ext cx="4114800" cy="1170432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148840"/>
            <a:ext cx="64008" cy="1170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Work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6243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HIV/AIDS decline proves that well-funded global health programs produce measurable results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4114800" cy="1170432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74720"/>
            <a:ext cx="64008" cy="11704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611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is Key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9502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fastest-growing causes (Alzheimer, Diabetes) have no cure — only prevention and early management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3474720"/>
            <a:ext cx="4114800" cy="1170432"/>
          </a:xfrm>
          <a:prstGeom prst="rect">
            <a:avLst/>
          </a:prstGeom>
          <a:solidFill>
            <a:srgbClr val="1A1D24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474720"/>
            <a:ext cx="64008" cy="1170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611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Inequity Persists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9502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developed and developing nations is stark — data must guide where resources go most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48426" y="-2105527"/>
            <a:ext cx="4572000" cy="4572000"/>
          </a:xfrm>
          <a:prstGeom prst="ellipse">
            <a:avLst/>
          </a:prstGeom>
          <a:solidFill>
            <a:srgbClr val="1A1D24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13448" y="2880360"/>
            <a:ext cx="4114800" cy="4114800"/>
          </a:xfrm>
          <a:prstGeom prst="ellipse">
            <a:avLst/>
          </a:prstGeom>
          <a:solidFill>
            <a:srgbClr val="1A1D24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THANK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0" b="1" dirty="0">
              <a:solidFill>
                <a:srgbClr val="C0392B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en-US" sz="9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YOU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457200" y="34930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292</TotalTime>
  <Words>1691</Words>
  <Application>Microsoft Office PowerPoint</Application>
  <PresentationFormat>On-screen Show (16:9)</PresentationFormat>
  <Paragraphs>304</Paragraphs>
  <Slides>32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Cambria</vt:lpstr>
      <vt:lpstr>Corbel</vt:lpstr>
      <vt:lpstr>Times New Roman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Death Cause Dashboard</dc:title>
  <dc:subject>PptxGenJS Presentation</dc:subject>
  <dc:creator>Jerry James</dc:creator>
  <cp:lastModifiedBy>jerry james</cp:lastModifiedBy>
  <cp:revision>7</cp:revision>
  <dcterms:created xsi:type="dcterms:W3CDTF">2026-05-16T16:35:23Z</dcterms:created>
  <dcterms:modified xsi:type="dcterms:W3CDTF">2026-05-17T04:55:53Z</dcterms:modified>
</cp:coreProperties>
</file>